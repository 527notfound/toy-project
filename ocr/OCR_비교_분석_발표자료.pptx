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OCR 기술별 한글 인식률 비교 분석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Tesseract, OCR.space API, PyMuPDF 활용</a:t>
            </a:r>
          </a:p>
          <a:p>
            <a:r>
              <a:t>발표자: 이지우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1. OCR 개요 (정의 및 원리)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latin typeface="Malgun Gothic"/>
              </a:defRPr>
            </a:pPr>
            <a:r>
              <a:t>OCR (Optical Character Recognition, 광학 문자 인식)</a:t>
            </a:r>
          </a:p>
          <a:p>
            <a:pPr>
              <a:defRPr sz="2000">
                <a:latin typeface="Malgun Gothic"/>
              </a:defRPr>
            </a:pPr>
            <a:r>
              <a:t>이미지(사진, 스캔) 속 문자를 기계가 읽을 수 있는 텍IST로 변환하는 기술</a:t>
            </a:r>
          </a:p>
          <a:p>
            <a:pPr>
              <a:spcAft>
                <a:spcPts val="1200"/>
              </a:spcAft>
              <a:defRPr sz="2200" b="1">
                <a:latin typeface="Malgun Gothic"/>
              </a:defRPr>
            </a:pPr>
            <a:r>
              <a:t>작동 원리</a:t>
            </a:r>
          </a:p>
          <a:p>
            <a:pPr>
              <a:defRPr sz="2000">
                <a:latin typeface="Malgun Gothic"/>
              </a:defRPr>
            </a:pPr>
            <a:r>
              <a:t>이미지 전처리: 노이즈 제거, 기울기 보정</a:t>
            </a:r>
          </a:p>
          <a:p>
            <a:pPr>
              <a:defRPr sz="2000">
                <a:latin typeface="Malgun Gothic"/>
              </a:defRPr>
            </a:pPr>
            <a:r>
              <a:t>문자 탐지 (Layout Analysis): 텍스트 영역 탐색</a:t>
            </a:r>
          </a:p>
          <a:p>
            <a:pPr>
              <a:defRPr sz="2000">
                <a:latin typeface="Malgun Gothic"/>
              </a:defRPr>
            </a:pPr>
            <a:r>
              <a:t>문자 인식 (Recognition): 딥러닝/머신러닝 모델로 문자 판독</a:t>
            </a:r>
          </a:p>
          <a:p>
            <a:pPr>
              <a:defRPr sz="2000">
                <a:latin typeface="Malgun Gothic"/>
              </a:defRPr>
            </a:pPr>
            <a:r>
              <a:t>후처리 (Post-processing): 오류 수정 및 텍스트 조합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2. OCR 활용 분야 (사례)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latin typeface="Malgun Gothic"/>
              </a:defRPr>
            </a:pPr>
            <a:r>
              <a:t>금융</a:t>
            </a:r>
          </a:p>
          <a:p>
            <a:pPr>
              <a:defRPr sz="2000">
                <a:latin typeface="Malgun Gothic"/>
              </a:defRPr>
            </a:pPr>
            <a:r>
              <a:t>신분증/운전면허증 촬영 본인 인증, 신용카드 번호 인식</a:t>
            </a:r>
          </a:p>
          <a:p>
            <a:pPr>
              <a:spcAft>
                <a:spcPts val="1200"/>
              </a:spcAft>
              <a:defRPr sz="2200" b="1">
                <a:latin typeface="Malgun Gothic"/>
              </a:defRPr>
            </a:pPr>
            <a:r>
              <a:t>교육</a:t>
            </a:r>
          </a:p>
          <a:p>
            <a:pPr>
              <a:defRPr sz="2000">
                <a:latin typeface="Malgun Gothic"/>
              </a:defRPr>
            </a:pPr>
            <a:r>
              <a:t>교재/논문 스캔 및 검색, 필기노트 디지털화, OMR 채점</a:t>
            </a:r>
          </a:p>
          <a:p>
            <a:pPr>
              <a:spcAft>
                <a:spcPts val="1200"/>
              </a:spcAft>
              <a:defRPr sz="2200" b="1">
                <a:latin typeface="Malgun Gothic"/>
              </a:defRPr>
            </a:pPr>
            <a:r>
              <a:t>행정 (공공)</a:t>
            </a:r>
          </a:p>
          <a:p>
            <a:pPr>
              <a:defRPr sz="2000">
                <a:latin typeface="Malgun Gothic"/>
              </a:defRPr>
            </a:pPr>
            <a:r>
              <a:t>민원 서류(등본, 증명서) 자동 처리, 우편물 주소 인식 및 분류</a:t>
            </a:r>
          </a:p>
          <a:p>
            <a:pPr>
              <a:spcAft>
                <a:spcPts val="1200"/>
              </a:spcAft>
              <a:defRPr sz="2200" b="1">
                <a:latin typeface="Malgun Gothic"/>
              </a:defRPr>
            </a:pPr>
            <a:r>
              <a:t>의료 / 법률 / 물류</a:t>
            </a:r>
          </a:p>
          <a:p>
            <a:pPr>
              <a:defRPr sz="2000">
                <a:latin typeface="Malgun Gothic"/>
              </a:defRPr>
            </a:pPr>
            <a:r>
              <a:t>의료: 처방전, 진료기록부 텍스트 변환</a:t>
            </a:r>
          </a:p>
          <a:p>
            <a:pPr>
              <a:defRPr sz="2000">
                <a:latin typeface="Malgun Gothic"/>
              </a:defRPr>
            </a:pPr>
            <a:r>
              <a:t>법률: 과거 판례, 법률 문서 검색 데이터베이스 구축</a:t>
            </a:r>
          </a:p>
          <a:p>
            <a:pPr>
              <a:defRPr sz="2000">
                <a:latin typeface="Malgun Gothic"/>
              </a:defRPr>
            </a:pPr>
            <a:r>
              <a:t>물류: 택배 송장 번호 인식, 차량 번호판 자동 인식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3. 프로젝트 OCR 처리 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latin typeface="Malgun Gothic"/>
              </a:defRPr>
            </a:pPr>
            <a:r>
              <a:t>방식 1: Tesseract (로컬 엔진)</a:t>
            </a:r>
          </a:p>
          <a:p>
            <a:pPr>
              <a:defRPr sz="2000">
                <a:latin typeface="Malgun Gothic"/>
              </a:defRPr>
            </a:pPr>
            <a:r>
              <a:t>`pytesseract` 라이브러리 활용, `01.jpg` 파일 직접 처리</a:t>
            </a:r>
          </a:p>
          <a:p>
            <a:pPr>
              <a:defRPr sz="2000">
                <a:latin typeface="Malgun Gothic"/>
              </a:defRPr>
            </a:pPr>
            <a:r>
              <a:t>Mac Homebrew로 `tesseract-lang` (한국어) 설치</a:t>
            </a:r>
          </a:p>
          <a:p>
            <a:pPr>
              <a:spcAft>
                <a:spcPts val="1200"/>
              </a:spcAft>
              <a:defRPr sz="2200" b="1">
                <a:latin typeface="Malgun Gothic"/>
              </a:defRPr>
            </a:pPr>
            <a:r>
              <a:t>방식 2: OCR.space API (웹 서비스)</a:t>
            </a:r>
          </a:p>
          <a:p>
            <a:pPr>
              <a:defRPr sz="2000">
                <a:latin typeface="Malgun Gothic"/>
              </a:defRPr>
            </a:pPr>
            <a:r>
              <a:t>`requests` 라이브러리 활용, `01.jpg` 파일을 API 서버로 전송/수신</a:t>
            </a:r>
          </a:p>
          <a:p>
            <a:pPr>
              <a:spcAft>
                <a:spcPts val="1200"/>
              </a:spcAft>
              <a:defRPr sz="2200" b="1">
                <a:latin typeface="Malgun Gothic"/>
              </a:defRPr>
            </a:pPr>
            <a:r>
              <a:t>방식 3: PyMuPDF + Tesseract (PDF 처리)</a:t>
            </a:r>
          </a:p>
          <a:p>
            <a:pPr>
              <a:defRPr sz="2000">
                <a:latin typeface="Malgun Gothic"/>
              </a:defRPr>
            </a:pPr>
            <a:r>
              <a:t>`fitz`로 `sample.pdf` 파일 열기</a:t>
            </a:r>
          </a:p>
          <a:p>
            <a:pPr>
              <a:defRPr sz="2000">
                <a:latin typeface="Malgun Gothic"/>
              </a:defRPr>
            </a:pPr>
            <a:r>
              <a:t>텍스트 레이어는 `page.get_text()`로 직접 추출</a:t>
            </a:r>
          </a:p>
          <a:p>
            <a:pPr>
              <a:defRPr sz="2000">
                <a:latin typeface="Malgun Gothic"/>
              </a:defRPr>
            </a:pPr>
            <a:r>
              <a:t>PDF 내 이미지는 `page.get_images()`로 분리 후 Tesseract로 OCR 수행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4. 인식률 평가 방법 (Levenshtein)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latin typeface="Malgun Gothic"/>
              </a:defRPr>
            </a:pPr>
            <a:r>
              <a:t>Levenshtein 거리 (편집 거리)</a:t>
            </a:r>
          </a:p>
          <a:p>
            <a:pPr>
              <a:defRPr sz="2000">
                <a:latin typeface="Malgun Gothic"/>
              </a:defRPr>
            </a:pPr>
            <a:r>
              <a:t>'정답' 텍스트와 'OCR 결과' 텍스트가 얼마나 다른지 측정</a:t>
            </a:r>
          </a:p>
          <a:p>
            <a:pPr>
              <a:defRPr sz="2000">
                <a:latin typeface="Malgun Gothic"/>
              </a:defRPr>
            </a:pPr>
            <a:r>
              <a:t>한 문자열을 다른 문자열로 바꾸는 데 필요한 최소 수정 횟수 (삽입, 삭제, 대체)</a:t>
            </a:r>
          </a:p>
          <a:p>
            <a:pPr>
              <a:defRPr sz="2000">
                <a:latin typeface="Malgun Gothic"/>
              </a:defRPr>
            </a:pPr>
            <a:r>
              <a:t>예: 'OCR' → 'OCF' (거리: 1)</a:t>
            </a:r>
          </a:p>
          <a:p>
            <a:pPr>
              <a:spcAft>
                <a:spcPts val="1200"/>
              </a:spcAft>
              <a:defRPr sz="2200" b="1">
                <a:latin typeface="Malgun Gothic"/>
              </a:defRPr>
            </a:pPr>
            <a:r>
              <a:t>인식률(Accuracy) 계산 공식</a:t>
            </a:r>
          </a:p>
          <a:p>
            <a:pPr>
              <a:defRPr sz="2000">
                <a:latin typeface="Malgun Gothic"/>
              </a:defRPr>
            </a:pPr>
            <a:r>
              <a:t>`정확도(%) = (1 - (거리 / 더 긴 텍스트 길이)) * 100`</a:t>
            </a:r>
          </a:p>
          <a:p>
            <a:pPr>
              <a:defRPr sz="2000">
                <a:latin typeface="Malgun Gothic"/>
              </a:defRPr>
            </a:pPr>
            <a:r>
              <a:t>거리가 0이면 정확도 100%</a:t>
            </a:r>
          </a:p>
          <a:p>
            <a:pPr>
              <a:spcAft>
                <a:spcPts val="1200"/>
              </a:spcAft>
              <a:defRPr sz="2200" b="1">
                <a:latin typeface="Malgun Gothic"/>
              </a:defRPr>
            </a:pPr>
            <a:r>
              <a:t>Python 예시 코드</a:t>
            </a:r>
          </a:p>
          <a:p>
            <a:pPr lvl="1">
              <a:defRPr sz="1800">
                <a:latin typeface="Malgun Gothic"/>
              </a:defRPr>
            </a:pPr>
            <a:r>
              <a:t>`distance = Levenshtein.distance(original, ocr_result)`</a:t>
            </a:r>
          </a:p>
          <a:p>
            <a:pPr lvl="1">
              <a:defRPr sz="1800">
                <a:latin typeface="Malgun Gothic"/>
              </a:defRPr>
            </a:pPr>
            <a:r>
              <a:t>`max_len = max(len(original), len(ocr_result))`</a:t>
            </a:r>
          </a:p>
          <a:p>
            <a:pPr lvl="1">
              <a:defRPr sz="1800">
                <a:latin typeface="Malgun Gothic"/>
              </a:defRPr>
            </a:pPr>
            <a:r>
              <a:t>`accuracy = (1 - distance / max_len) * 100`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5. 인식률 결과 및 원본 비교 그래프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ocr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6. 결론 및 향후 발전 방향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latin typeface="Malgun Gothic"/>
              </a:defRPr>
            </a:pPr>
            <a:r>
              <a:t>결론</a:t>
            </a:r>
          </a:p>
          <a:p>
            <a:pPr>
              <a:defRPr sz="2000">
                <a:latin typeface="Malgun Gothic"/>
              </a:defRPr>
            </a:pPr>
            <a:r>
              <a:t>(결과에 따라 작성: 예: 'OCR.space API'가 JPG 이미지에서 가장 높은 한글 인식률을 보임)</a:t>
            </a:r>
          </a:p>
          <a:p>
            <a:pPr>
              <a:defRPr sz="2000">
                <a:latin typeface="Malgun Gothic"/>
              </a:defRPr>
            </a:pPr>
            <a:r>
              <a:t>(결과에 따라 작성: 예: 'Tesseract'는 설치형임에도 준수한 성능을 제공함)</a:t>
            </a:r>
          </a:p>
          <a:p>
            <a:pPr>
              <a:defRPr sz="2000">
                <a:latin typeface="Malgun Gothic"/>
              </a:defRPr>
            </a:pPr>
            <a:r>
              <a:t>'PyMuPDF'는 텍스트 레이어 추출이 가능할 때 가장 빠르고 정확함</a:t>
            </a:r>
          </a:p>
          <a:p>
            <a:pPr>
              <a:spcAft>
                <a:spcPts val="1200"/>
              </a:spcAft>
              <a:defRPr sz="2200" b="1">
                <a:latin typeface="Malgun Gothic"/>
              </a:defRPr>
            </a:pPr>
            <a:r>
              <a:t>한계점</a:t>
            </a:r>
          </a:p>
          <a:p>
            <a:pPr>
              <a:defRPr sz="2000">
                <a:latin typeface="Malgun Gothic"/>
              </a:defRPr>
            </a:pPr>
            <a:r>
              <a:t>제한된 데이터셋(JPG 1장, PDF 1장)으로 테스트됨</a:t>
            </a:r>
          </a:p>
          <a:p>
            <a:pPr>
              <a:defRPr sz="2000">
                <a:latin typeface="Malgun Gothic"/>
              </a:defRPr>
            </a:pPr>
            <a:r>
              <a:t>손글씨, 저화질, 복잡한 배경 등 다양한 변수 미적용</a:t>
            </a:r>
          </a:p>
          <a:p>
            <a:pPr>
              <a:spcAft>
                <a:spcPts val="1200"/>
              </a:spcAft>
              <a:defRPr sz="2200" b="1">
                <a:latin typeface="Malgun Gothic"/>
              </a:defRPr>
            </a:pPr>
            <a:r>
              <a:t>향후 발전 방향</a:t>
            </a:r>
          </a:p>
          <a:p>
            <a:pPr>
              <a:defRPr sz="2000">
                <a:latin typeface="Malgun Gothic"/>
              </a:defRPr>
            </a:pPr>
            <a:r>
              <a:t>Tesseract 모델 파인튜닝(Fine-tuning)을 통한 특정 폰트 인식률 개선</a:t>
            </a:r>
          </a:p>
          <a:p>
            <a:pPr>
              <a:defRPr sz="2000">
                <a:latin typeface="Malgun Gothic"/>
              </a:defRPr>
            </a:pPr>
            <a:r>
              <a:t>다양한 이미지 전처리(Pre-processing) 기법 적용 테스트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